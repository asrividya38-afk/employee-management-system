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57" r:id="rId4"/>
    <p:sldId id="258" r:id="rId5"/>
    <p:sldId id="259" r:id="rId6"/>
    <p:sldId id="265" r:id="rId7"/>
    <p:sldId id="270" r:id="rId8"/>
    <p:sldId id="267" r:id="rId9"/>
    <p:sldId id="268"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B4D"/>
        </a:solidFill>
        <a:effectLst/>
      </p:bgPr>
    </p:bg>
    <p:spTree>
      <p:nvGrpSpPr>
        <p:cNvPr id="1" name=""/>
        <p:cNvGrpSpPr/>
        <p:nvPr/>
      </p:nvGrpSpPr>
      <p:grpSpPr>
        <a:xfrm>
          <a:off x="0" y="0"/>
          <a:ext cx="0" cy="0"/>
          <a:chOff x="0" y="0"/>
          <a:chExt cx="0" cy="0"/>
        </a:xfrm>
      </p:grpSpPr>
      <p:sp>
        <p:nvSpPr>
          <p:cNvPr id="2" name="Rounded Rectangle 1"/>
          <p:cNvSpPr/>
          <p:nvPr/>
        </p:nvSpPr>
        <p:spPr>
          <a:xfrm>
            <a:off x="8686800" y="640080"/>
            <a:ext cx="2286000" cy="2286000"/>
          </a:xfrm>
          <a:prstGeom prst="roundRect">
            <a:avLst/>
          </a:prstGeom>
          <a:solidFill>
            <a:srgbClr val="2F6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875520" y="2194560"/>
            <a:ext cx="1463040" cy="1463040"/>
          </a:xfrm>
          <a:prstGeom prst="roundRect">
            <a:avLst/>
          </a:prstGeom>
          <a:solidFill>
            <a:srgbClr val="279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0" y="3017520"/>
            <a:ext cx="1828800" cy="1828800"/>
          </a:xfrm>
          <a:prstGeom prst="roundRect">
            <a:avLst/>
          </a:prstGeom>
          <a:solidFill>
            <a:srgbClr val="445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260083" y="1451676"/>
            <a:ext cx="8308258" cy="1446550"/>
          </a:xfrm>
          <a:prstGeom prst="rect">
            <a:avLst/>
          </a:prstGeom>
          <a:noFill/>
        </p:spPr>
        <p:txBody>
          <a:bodyPr wrap="square">
            <a:spAutoFit/>
          </a:bodyPr>
          <a:lstStyle/>
          <a:p>
            <a:pPr>
              <a:defRPr sz="3600" b="1">
                <a:solidFill>
                  <a:srgbClr val="FFFFFF"/>
                </a:solidFill>
                <a:latin typeface="Aptos Display"/>
              </a:defRPr>
            </a:pPr>
            <a:r>
              <a:rPr sz="4400" dirty="0"/>
              <a:t>EMPLOYEE</a:t>
            </a:r>
            <a:br>
              <a:rPr sz="4400" dirty="0"/>
            </a:br>
            <a:r>
              <a:rPr sz="4400" dirty="0"/>
              <a:t>MANAGEMENT SYSTEM</a:t>
            </a:r>
          </a:p>
        </p:txBody>
      </p:sp>
      <p:sp>
        <p:nvSpPr>
          <p:cNvPr id="7" name="TextBox 6"/>
          <p:cNvSpPr txBox="1"/>
          <p:nvPr/>
        </p:nvSpPr>
        <p:spPr>
          <a:xfrm>
            <a:off x="9425342" y="5131759"/>
            <a:ext cx="2285999" cy="1261884"/>
          </a:xfrm>
          <a:prstGeom prst="rect">
            <a:avLst/>
          </a:prstGeom>
          <a:noFill/>
        </p:spPr>
        <p:txBody>
          <a:bodyPr wrap="square">
            <a:spAutoFit/>
          </a:bodyPr>
          <a:lstStyle/>
          <a:p>
            <a:pPr>
              <a:defRPr sz="1600">
                <a:solidFill>
                  <a:srgbClr val="FFFFFF"/>
                </a:solidFill>
              </a:defRPr>
            </a:pPr>
            <a:r>
              <a:rPr sz="2000" dirty="0"/>
              <a:t>Presented by: </a:t>
            </a:r>
            <a:endParaRPr lang="en-US" sz="2000" dirty="0"/>
          </a:p>
          <a:p>
            <a:pPr>
              <a:defRPr sz="1600">
                <a:solidFill>
                  <a:srgbClr val="FFFFFF"/>
                </a:solidFill>
              </a:defRPr>
            </a:pPr>
            <a:r>
              <a:rPr lang="en-US" sz="2000" dirty="0"/>
              <a:t>Name: </a:t>
            </a:r>
            <a:r>
              <a:rPr lang="en-US" sz="2000" dirty="0" err="1"/>
              <a:t>A.Srividya</a:t>
            </a:r>
            <a:endParaRPr lang="en-US" sz="2000" dirty="0"/>
          </a:p>
          <a:p>
            <a:pPr>
              <a:defRPr sz="1600">
                <a:solidFill>
                  <a:srgbClr val="FFFFFF"/>
                </a:solidFill>
              </a:defRPr>
            </a:pPr>
            <a:r>
              <a:rPr lang="en-US" sz="2000" dirty="0" err="1"/>
              <a:t>Std_ID</a:t>
            </a:r>
            <a:r>
              <a:rPr lang="en-US" sz="2000" dirty="0"/>
              <a:t>: AF05217381</a:t>
            </a:r>
          </a:p>
          <a:p>
            <a:pPr>
              <a:defRPr sz="1600">
                <a:solidFill>
                  <a:srgbClr val="FFFFFF"/>
                </a:solidFill>
              </a:defRPr>
            </a:pPr>
            <a:endParaRPr dirty="0"/>
          </a:p>
        </p:txBody>
      </p:sp>
      <p:sp>
        <p:nvSpPr>
          <p:cNvPr id="8" name="TextBox 7"/>
          <p:cNvSpPr txBox="1"/>
          <p:nvPr/>
        </p:nvSpPr>
        <p:spPr>
          <a:xfrm>
            <a:off x="10698480" y="6446520"/>
            <a:ext cx="914400" cy="201168"/>
          </a:xfrm>
          <a:prstGeom prst="rect">
            <a:avLst/>
          </a:prstGeom>
          <a:noFill/>
        </p:spPr>
        <p:txBody>
          <a:bodyPr wrap="none">
            <a:spAutoFit/>
          </a:bodyPr>
          <a:lstStyle/>
          <a:p>
            <a:pPr algn="r">
              <a:defRPr sz="1000">
                <a:solidFill>
                  <a:srgbClr val="5F6978"/>
                </a:solidFill>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4E372E-7C4A-4841-EA98-7771D4516AC6}"/>
              </a:ext>
            </a:extLst>
          </p:cNvPr>
          <p:cNvSpPr txBox="1"/>
          <p:nvPr/>
        </p:nvSpPr>
        <p:spPr>
          <a:xfrm>
            <a:off x="1093712" y="620431"/>
            <a:ext cx="1735155" cy="523220"/>
          </a:xfrm>
          <a:prstGeom prst="rect">
            <a:avLst/>
          </a:prstGeom>
          <a:noFill/>
        </p:spPr>
        <p:txBody>
          <a:bodyPr wrap="none" rtlCol="0">
            <a:spAutoFit/>
          </a:bodyPr>
          <a:lstStyle/>
          <a:p>
            <a:r>
              <a:rPr lang="en-US" sz="2800" b="1" dirty="0"/>
              <a:t>ABSTRACT</a:t>
            </a:r>
            <a:endParaRPr lang="en-IN" sz="2800" b="1" dirty="0"/>
          </a:p>
        </p:txBody>
      </p:sp>
      <p:sp>
        <p:nvSpPr>
          <p:cNvPr id="3" name="TextBox 2">
            <a:extLst>
              <a:ext uri="{FF2B5EF4-FFF2-40B4-BE49-F238E27FC236}">
                <a16:creationId xmlns:a16="http://schemas.microsoft.com/office/drawing/2014/main" id="{31C4D023-5CAA-B317-19E6-D84C93F7C7B1}"/>
              </a:ext>
            </a:extLst>
          </p:cNvPr>
          <p:cNvSpPr txBox="1"/>
          <p:nvPr/>
        </p:nvSpPr>
        <p:spPr>
          <a:xfrm>
            <a:off x="1093712" y="1443841"/>
            <a:ext cx="9635613" cy="3970318"/>
          </a:xfrm>
          <a:prstGeom prst="rect">
            <a:avLst/>
          </a:prstGeom>
          <a:noFill/>
        </p:spPr>
        <p:txBody>
          <a:bodyPr wrap="square" rtlCol="0">
            <a:spAutoFit/>
          </a:bodyPr>
          <a:lstStyle/>
          <a:p>
            <a:r>
              <a:rPr lang="en-IN" dirty="0"/>
              <a:t>The Employee Management System is a software application developed to manage employee information efficiently and systematically. It helps store and maintain employee details such as employee ID, name, department, designation, and salary.</a:t>
            </a:r>
          </a:p>
          <a:p>
            <a:r>
              <a:rPr lang="en-IN" dirty="0"/>
              <a:t> </a:t>
            </a:r>
          </a:p>
          <a:p>
            <a:r>
              <a:rPr lang="en-IN" dirty="0"/>
              <a:t>The system provides basic operations such as adding, viewing, searching, updating, and deleting employee records.</a:t>
            </a:r>
          </a:p>
          <a:p>
            <a:endParaRPr lang="en-IN" dirty="0"/>
          </a:p>
          <a:p>
            <a:r>
              <a:rPr lang="en-IN" dirty="0"/>
              <a:t>In this project, Python is used as the programming language, MySQL is used to store and manage employee data, and Visual Studio Code (VS Code) is used as the development environment. The application connects to the MySQL database using MySQL Connector.</a:t>
            </a:r>
          </a:p>
          <a:p>
            <a:endParaRPr lang="en-IN" dirty="0"/>
          </a:p>
          <a:p>
            <a:r>
              <a:rPr lang="en-IN" dirty="0"/>
              <a:t>The main aim of this project is to reduce manual paperwork, save time, improve data accuracy, and make employee record management easier. This system can be further enhanced by adding features such as attendance management, payroll processing, and leave management.</a:t>
            </a:r>
          </a:p>
        </p:txBody>
      </p:sp>
      <p:sp>
        <p:nvSpPr>
          <p:cNvPr id="5" name="Rectangle 4">
            <a:extLst>
              <a:ext uri="{FF2B5EF4-FFF2-40B4-BE49-F238E27FC236}">
                <a16:creationId xmlns:a16="http://schemas.microsoft.com/office/drawing/2014/main" id="{47EA770E-F4A0-A84D-3D64-547D0EE2981C}"/>
              </a:ext>
            </a:extLst>
          </p:cNvPr>
          <p:cNvSpPr/>
          <p:nvPr/>
        </p:nvSpPr>
        <p:spPr>
          <a:xfrm>
            <a:off x="1209368" y="1180968"/>
            <a:ext cx="1051560" cy="112777"/>
          </a:xfrm>
          <a:prstGeom prst="rect">
            <a:avLst/>
          </a:prstGeom>
          <a:solidFill>
            <a:srgbClr val="279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  </a:t>
            </a:r>
            <a:endParaRPr dirty="0"/>
          </a:p>
        </p:txBody>
      </p:sp>
    </p:spTree>
    <p:extLst>
      <p:ext uri="{BB962C8B-B14F-4D97-AF65-F5344CB8AC3E}">
        <p14:creationId xmlns:p14="http://schemas.microsoft.com/office/powerpoint/2010/main" val="856627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F2FA"/>
        </a:solidFill>
        <a:effectLst/>
      </p:bgPr>
    </p:bg>
    <p:spTree>
      <p:nvGrpSpPr>
        <p:cNvPr id="1" name=""/>
        <p:cNvGrpSpPr/>
        <p:nvPr/>
      </p:nvGrpSpPr>
      <p:grpSpPr>
        <a:xfrm>
          <a:off x="0" y="0"/>
          <a:ext cx="0" cy="0"/>
          <a:chOff x="0" y="0"/>
          <a:chExt cx="0" cy="0"/>
        </a:xfrm>
      </p:grpSpPr>
      <p:sp>
        <p:nvSpPr>
          <p:cNvPr id="2" name="TextBox 1"/>
          <p:cNvSpPr txBox="1"/>
          <p:nvPr/>
        </p:nvSpPr>
        <p:spPr>
          <a:xfrm>
            <a:off x="640080" y="668936"/>
            <a:ext cx="2560509" cy="553998"/>
          </a:xfrm>
          <a:prstGeom prst="rect">
            <a:avLst/>
          </a:prstGeom>
          <a:noFill/>
        </p:spPr>
        <p:txBody>
          <a:bodyPr wrap="none">
            <a:spAutoFit/>
          </a:bodyPr>
          <a:lstStyle/>
          <a:p>
            <a:pPr>
              <a:defRPr sz="3000" b="1">
                <a:solidFill>
                  <a:srgbClr val="182B4D"/>
                </a:solidFill>
                <a:latin typeface="Aptos Display"/>
              </a:defRPr>
            </a:pPr>
            <a:r>
              <a:rPr lang="en-US" dirty="0"/>
              <a:t>     </a:t>
            </a:r>
            <a:r>
              <a:rPr dirty="0"/>
              <a:t>Introduction</a:t>
            </a:r>
          </a:p>
        </p:txBody>
      </p:sp>
      <p:sp>
        <p:nvSpPr>
          <p:cNvPr id="3" name="Rectangle 2"/>
          <p:cNvSpPr/>
          <p:nvPr/>
        </p:nvSpPr>
        <p:spPr>
          <a:xfrm>
            <a:off x="1110652" y="1234241"/>
            <a:ext cx="1051560" cy="112777"/>
          </a:xfrm>
          <a:prstGeom prst="rect">
            <a:avLst/>
          </a:prstGeom>
          <a:solidFill>
            <a:srgbClr val="279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  </a:t>
            </a:r>
            <a:endParaRPr dirty="0"/>
          </a:p>
        </p:txBody>
      </p:sp>
      <p:sp>
        <p:nvSpPr>
          <p:cNvPr id="4" name="TextBox 3"/>
          <p:cNvSpPr txBox="1"/>
          <p:nvPr/>
        </p:nvSpPr>
        <p:spPr>
          <a:xfrm>
            <a:off x="1025997" y="1503844"/>
            <a:ext cx="10515600" cy="4673074"/>
          </a:xfrm>
          <a:prstGeom prst="rect">
            <a:avLst/>
          </a:prstGeom>
          <a:noFill/>
        </p:spPr>
        <p:txBody>
          <a:bodyPr wrap="square">
            <a:spAutoFit/>
          </a:bodyPr>
          <a:lstStyle/>
          <a:p>
            <a:pPr>
              <a:spcAft>
                <a:spcPts val="1600"/>
              </a:spcAft>
              <a:defRPr sz="2100">
                <a:solidFill>
                  <a:srgbClr val="2D343E"/>
                </a:solidFill>
                <a:latin typeface="Aptos"/>
              </a:defRPr>
            </a:pPr>
            <a:r>
              <a:rPr lang="en-IN" sz="2100" dirty="0">
                <a:solidFill>
                  <a:srgbClr val="2D343E"/>
                </a:solidFill>
                <a:latin typeface="Aptos"/>
              </a:rPr>
              <a:t>An Employee Management System is a software application used to store and manage employee information in an organized way.</a:t>
            </a:r>
          </a:p>
          <a:p>
            <a:pPr>
              <a:spcAft>
                <a:spcPts val="1600"/>
              </a:spcAft>
              <a:defRPr sz="2100">
                <a:solidFill>
                  <a:srgbClr val="2D343E"/>
                </a:solidFill>
                <a:latin typeface="Aptos"/>
              </a:defRPr>
            </a:pPr>
            <a:r>
              <a:rPr lang="en-IN" sz="2100" dirty="0">
                <a:solidFill>
                  <a:srgbClr val="2D343E"/>
                </a:solidFill>
                <a:latin typeface="Aptos"/>
              </a:rPr>
              <a:t>It helps an organization maintain employee details such as employee ID, name, department, designation, and salary. This system allows users to add, view, update, search, and delete employee records easily.</a:t>
            </a:r>
          </a:p>
          <a:p>
            <a:pPr>
              <a:spcAft>
                <a:spcPts val="1600"/>
              </a:spcAft>
              <a:defRPr sz="2100">
                <a:solidFill>
                  <a:srgbClr val="2D343E"/>
                </a:solidFill>
                <a:latin typeface="Aptos"/>
              </a:defRPr>
            </a:pPr>
            <a:r>
              <a:rPr lang="en-IN" sz="2100" dirty="0">
                <a:solidFill>
                  <a:srgbClr val="2D343E"/>
                </a:solidFill>
                <a:latin typeface="Aptos"/>
              </a:rPr>
              <a:t>In this project, Python is used to develop the application, and MySQL is used to store employee information in a database. The main purpose of this system is to reduce manual work, save time, improve accuracy, and manage employee records efficiently.</a:t>
            </a:r>
          </a:p>
          <a:p>
            <a:pPr>
              <a:spcAft>
                <a:spcPts val="1600"/>
              </a:spcAft>
              <a:defRPr sz="2100">
                <a:solidFill>
                  <a:srgbClr val="2D343E"/>
                </a:solidFill>
                <a:latin typeface="Aptos"/>
              </a:defRPr>
            </a:pPr>
            <a:endParaRPr lang="en-IN" sz="2100" dirty="0">
              <a:solidFill>
                <a:srgbClr val="2D343E"/>
              </a:solidFill>
              <a:latin typeface="Aptos"/>
            </a:endParaRPr>
          </a:p>
          <a:p>
            <a:pPr>
              <a:spcAft>
                <a:spcPts val="1600"/>
              </a:spcAft>
              <a:defRPr sz="2100">
                <a:solidFill>
                  <a:srgbClr val="2D343E"/>
                </a:solidFill>
                <a:latin typeface="Aptos"/>
              </a:defRPr>
            </a:pPr>
            <a:endParaRPr lang="en-IN" sz="2100" dirty="0">
              <a:solidFill>
                <a:srgbClr val="2D343E"/>
              </a:solidFill>
              <a:latin typeface="Aptos"/>
            </a:endParaRPr>
          </a:p>
          <a:p>
            <a:pPr>
              <a:spcAft>
                <a:spcPts val="1600"/>
              </a:spcAft>
              <a:defRPr sz="2100">
                <a:solidFill>
                  <a:srgbClr val="2D343E"/>
                </a:solidFill>
                <a:latin typeface="Aptos"/>
              </a:defRPr>
            </a:pPr>
            <a:endParaRPr dirty="0"/>
          </a:p>
        </p:txBody>
      </p:sp>
      <p:sp>
        <p:nvSpPr>
          <p:cNvPr id="5" name="TextBox 4"/>
          <p:cNvSpPr txBox="1"/>
          <p:nvPr/>
        </p:nvSpPr>
        <p:spPr>
          <a:xfrm>
            <a:off x="10698480" y="6446520"/>
            <a:ext cx="914400" cy="201168"/>
          </a:xfrm>
          <a:prstGeom prst="rect">
            <a:avLst/>
          </a:prstGeom>
          <a:noFill/>
        </p:spPr>
        <p:txBody>
          <a:bodyPr wrap="none">
            <a:spAutoFit/>
          </a:bodyPr>
          <a:lstStyle/>
          <a:p>
            <a:pPr algn="r">
              <a:defRPr sz="1000">
                <a:solidFill>
                  <a:srgbClr val="5F6978"/>
                </a:solidFill>
              </a:defRPr>
            </a:pPr>
            <a:r>
              <a:t>02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7899" y="752487"/>
            <a:ext cx="2009909" cy="553998"/>
          </a:xfrm>
          <a:prstGeom prst="rect">
            <a:avLst/>
          </a:prstGeom>
          <a:noFill/>
        </p:spPr>
        <p:txBody>
          <a:bodyPr wrap="none">
            <a:spAutoFit/>
          </a:bodyPr>
          <a:lstStyle/>
          <a:p>
            <a:pPr>
              <a:defRPr sz="3000" b="1">
                <a:solidFill>
                  <a:srgbClr val="182B4D"/>
                </a:solidFill>
                <a:latin typeface="Aptos Display"/>
              </a:defRPr>
            </a:pPr>
            <a:r>
              <a:rPr dirty="0"/>
              <a:t> Objectives</a:t>
            </a:r>
          </a:p>
        </p:txBody>
      </p:sp>
      <p:sp>
        <p:nvSpPr>
          <p:cNvPr id="3" name="Rectangle 2"/>
          <p:cNvSpPr/>
          <p:nvPr/>
        </p:nvSpPr>
        <p:spPr>
          <a:xfrm>
            <a:off x="973001" y="1331213"/>
            <a:ext cx="1051560" cy="64008"/>
          </a:xfrm>
          <a:prstGeom prst="rect">
            <a:avLst/>
          </a:prstGeom>
          <a:solidFill>
            <a:srgbClr val="279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38200" y="1572670"/>
            <a:ext cx="10515600" cy="3380413"/>
          </a:xfrm>
          <a:prstGeom prst="rect">
            <a:avLst/>
          </a:prstGeom>
          <a:noFill/>
        </p:spPr>
        <p:txBody>
          <a:bodyPr wrap="square">
            <a:spAutoFit/>
          </a:bodyPr>
          <a:lstStyle/>
          <a:p>
            <a:pPr>
              <a:spcAft>
                <a:spcPts val="1600"/>
              </a:spcAft>
              <a:defRPr sz="2100">
                <a:solidFill>
                  <a:srgbClr val="2D343E"/>
                </a:solidFill>
                <a:latin typeface="Aptos"/>
              </a:defRPr>
            </a:pPr>
            <a:r>
              <a:rPr lang="en-IN" sz="2100" dirty="0">
                <a:solidFill>
                  <a:srgbClr val="2D343E"/>
                </a:solidFill>
                <a:latin typeface="Aptos"/>
              </a:rPr>
              <a:t>The main objective of the Employee Management System is to manage employee information efficiently and systematically.</a:t>
            </a:r>
          </a:p>
          <a:p>
            <a:pPr>
              <a:spcAft>
                <a:spcPts val="1600"/>
              </a:spcAft>
              <a:defRPr sz="2100">
                <a:solidFill>
                  <a:srgbClr val="2D343E"/>
                </a:solidFill>
                <a:latin typeface="Aptos"/>
              </a:defRPr>
            </a:pPr>
            <a:r>
              <a:rPr dirty="0"/>
              <a:t>Add new employee records.</a:t>
            </a:r>
          </a:p>
          <a:p>
            <a:pPr>
              <a:spcAft>
                <a:spcPts val="1600"/>
              </a:spcAft>
              <a:defRPr sz="2100">
                <a:solidFill>
                  <a:srgbClr val="2D343E"/>
                </a:solidFill>
                <a:latin typeface="Aptos"/>
              </a:defRPr>
            </a:pPr>
            <a:r>
              <a:rPr dirty="0"/>
              <a:t>View and search employee details.</a:t>
            </a:r>
          </a:p>
          <a:p>
            <a:pPr>
              <a:spcAft>
                <a:spcPts val="1600"/>
              </a:spcAft>
              <a:defRPr sz="2100">
                <a:solidFill>
                  <a:srgbClr val="2D343E"/>
                </a:solidFill>
                <a:latin typeface="Aptos"/>
              </a:defRPr>
            </a:pPr>
            <a:r>
              <a:rPr dirty="0"/>
              <a:t>Update employee information.</a:t>
            </a:r>
          </a:p>
          <a:p>
            <a:pPr>
              <a:spcAft>
                <a:spcPts val="1600"/>
              </a:spcAft>
              <a:defRPr sz="2100">
                <a:solidFill>
                  <a:srgbClr val="2D343E"/>
                </a:solidFill>
                <a:latin typeface="Aptos"/>
              </a:defRPr>
            </a:pPr>
            <a:r>
              <a:rPr dirty="0"/>
              <a:t>Delete records when an employee leaves.</a:t>
            </a:r>
          </a:p>
          <a:p>
            <a:pPr>
              <a:spcAft>
                <a:spcPts val="1600"/>
              </a:spcAft>
              <a:defRPr sz="2100">
                <a:solidFill>
                  <a:srgbClr val="2D343E"/>
                </a:solidFill>
                <a:latin typeface="Aptos"/>
              </a:defRPr>
            </a:pPr>
            <a:r>
              <a:rPr dirty="0"/>
              <a:t>Store data securely and consistently in a database.</a:t>
            </a:r>
          </a:p>
        </p:txBody>
      </p:sp>
      <p:sp>
        <p:nvSpPr>
          <p:cNvPr id="5" name="TextBox 4"/>
          <p:cNvSpPr txBox="1"/>
          <p:nvPr/>
        </p:nvSpPr>
        <p:spPr>
          <a:xfrm>
            <a:off x="10698480" y="6446520"/>
            <a:ext cx="914400" cy="201168"/>
          </a:xfrm>
          <a:prstGeom prst="rect">
            <a:avLst/>
          </a:prstGeom>
          <a:noFill/>
        </p:spPr>
        <p:txBody>
          <a:bodyPr wrap="none">
            <a:spAutoFit/>
          </a:bodyPr>
          <a:lstStyle/>
          <a:p>
            <a:pPr algn="r">
              <a:defRPr sz="1000">
                <a:solidFill>
                  <a:srgbClr val="5F6978"/>
                </a:solidFill>
              </a:defRPr>
            </a:pPr>
            <a: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F2FA"/>
        </a:solidFill>
        <a:effectLst/>
      </p:bgPr>
    </p:bg>
    <p:spTree>
      <p:nvGrpSpPr>
        <p:cNvPr id="1" name=""/>
        <p:cNvGrpSpPr/>
        <p:nvPr/>
      </p:nvGrpSpPr>
      <p:grpSpPr>
        <a:xfrm>
          <a:off x="0" y="0"/>
          <a:ext cx="0" cy="0"/>
          <a:chOff x="0" y="0"/>
          <a:chExt cx="0" cy="0"/>
        </a:xfrm>
      </p:grpSpPr>
      <p:sp>
        <p:nvSpPr>
          <p:cNvPr id="2" name="TextBox 1"/>
          <p:cNvSpPr txBox="1"/>
          <p:nvPr/>
        </p:nvSpPr>
        <p:spPr>
          <a:xfrm>
            <a:off x="514719" y="855997"/>
            <a:ext cx="10972800" cy="640080"/>
          </a:xfrm>
          <a:prstGeom prst="rect">
            <a:avLst/>
          </a:prstGeom>
          <a:noFill/>
        </p:spPr>
        <p:txBody>
          <a:bodyPr wrap="none">
            <a:spAutoFit/>
          </a:bodyPr>
          <a:lstStyle/>
          <a:p>
            <a:pPr>
              <a:defRPr sz="3000" b="1">
                <a:solidFill>
                  <a:srgbClr val="182B4D"/>
                </a:solidFill>
                <a:latin typeface="Aptos Display"/>
              </a:defRPr>
            </a:pPr>
            <a:r>
              <a:rPr dirty="0"/>
              <a:t>Technologies Used</a:t>
            </a:r>
          </a:p>
        </p:txBody>
      </p:sp>
      <p:sp>
        <p:nvSpPr>
          <p:cNvPr id="3" name="Rectangle 2"/>
          <p:cNvSpPr/>
          <p:nvPr/>
        </p:nvSpPr>
        <p:spPr>
          <a:xfrm>
            <a:off x="704481" y="1496077"/>
            <a:ext cx="1051560" cy="64008"/>
          </a:xfrm>
          <a:prstGeom prst="rect">
            <a:avLst/>
          </a:prstGeom>
          <a:solidFill>
            <a:srgbClr val="279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14719" y="1779147"/>
            <a:ext cx="10515600" cy="2908489"/>
          </a:xfrm>
          <a:prstGeom prst="rect">
            <a:avLst/>
          </a:prstGeom>
          <a:noFill/>
        </p:spPr>
        <p:txBody>
          <a:bodyPr wrap="square">
            <a:spAutoFit/>
          </a:bodyPr>
          <a:lstStyle/>
          <a:p>
            <a:r>
              <a:rPr lang="en-IN" dirty="0"/>
              <a:t>1. Python: Used to develop the application and implement employee management operations.</a:t>
            </a:r>
          </a:p>
          <a:p>
            <a:endParaRPr lang="en-IN" dirty="0"/>
          </a:p>
          <a:p>
            <a:r>
              <a:rPr lang="en-IN" dirty="0"/>
              <a:t>2. MySQL: Used to store and manage employee details in a database.</a:t>
            </a:r>
          </a:p>
          <a:p>
            <a:endParaRPr lang="en-IN" dirty="0"/>
          </a:p>
          <a:p>
            <a:r>
              <a:rPr lang="en-IN" dirty="0"/>
              <a:t>3. MySQL Connector: Used to connect Python with the MySQL database.</a:t>
            </a:r>
          </a:p>
          <a:p>
            <a:endParaRPr lang="en-IN" dirty="0"/>
          </a:p>
          <a:p>
            <a:r>
              <a:rPr lang="en-IN" dirty="0"/>
              <a:t>4. SQL: Used to insert, retrieve, update, and delete employee records.</a:t>
            </a:r>
          </a:p>
          <a:p>
            <a:endParaRPr lang="en-IN" dirty="0"/>
          </a:p>
          <a:p>
            <a:r>
              <a:rPr lang="en-IN" dirty="0"/>
              <a:t>5. Visual Studio Code (VS Code): Used as a code editor to write, edit, and run Python code.</a:t>
            </a:r>
          </a:p>
          <a:p>
            <a:pPr>
              <a:spcAft>
                <a:spcPts val="1600"/>
              </a:spcAft>
              <a:defRPr sz="2100">
                <a:solidFill>
                  <a:srgbClr val="2D343E"/>
                </a:solidFill>
                <a:latin typeface="Aptos"/>
              </a:defRPr>
            </a:pPr>
            <a:endParaRPr dirty="0"/>
          </a:p>
        </p:txBody>
      </p:sp>
      <p:sp>
        <p:nvSpPr>
          <p:cNvPr id="5" name="TextBox 4"/>
          <p:cNvSpPr txBox="1"/>
          <p:nvPr/>
        </p:nvSpPr>
        <p:spPr>
          <a:xfrm>
            <a:off x="10698480" y="6446520"/>
            <a:ext cx="914400" cy="201168"/>
          </a:xfrm>
          <a:prstGeom prst="rect">
            <a:avLst/>
          </a:prstGeom>
          <a:noFill/>
        </p:spPr>
        <p:txBody>
          <a:bodyPr wrap="none">
            <a:spAutoFit/>
          </a:bodyPr>
          <a:lstStyle/>
          <a:p>
            <a:pPr algn="r">
              <a:defRPr sz="1000">
                <a:solidFill>
                  <a:srgbClr val="5F6978"/>
                </a:solidFill>
              </a:defRPr>
            </a:pPr>
            <a: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F2FA"/>
        </a:solidFill>
        <a:effectLst/>
      </p:bgPr>
    </p:bg>
    <p:spTree>
      <p:nvGrpSpPr>
        <p:cNvPr id="1" name=""/>
        <p:cNvGrpSpPr/>
        <p:nvPr/>
      </p:nvGrpSpPr>
      <p:grpSpPr>
        <a:xfrm>
          <a:off x="0" y="0"/>
          <a:ext cx="0" cy="0"/>
          <a:chOff x="0" y="0"/>
          <a:chExt cx="0" cy="0"/>
        </a:xfrm>
      </p:grpSpPr>
      <p:sp>
        <p:nvSpPr>
          <p:cNvPr id="2" name="TextBox 1"/>
          <p:cNvSpPr txBox="1"/>
          <p:nvPr/>
        </p:nvSpPr>
        <p:spPr>
          <a:xfrm>
            <a:off x="609600" y="859536"/>
            <a:ext cx="10972800" cy="640080"/>
          </a:xfrm>
          <a:prstGeom prst="rect">
            <a:avLst/>
          </a:prstGeom>
          <a:noFill/>
        </p:spPr>
        <p:txBody>
          <a:bodyPr wrap="none">
            <a:spAutoFit/>
          </a:bodyPr>
          <a:lstStyle/>
          <a:p>
            <a:pPr>
              <a:defRPr sz="3000" b="1">
                <a:solidFill>
                  <a:srgbClr val="182B4D"/>
                </a:solidFill>
                <a:latin typeface="Aptos Display"/>
              </a:defRPr>
            </a:pPr>
            <a:r>
              <a:rPr dirty="0"/>
              <a:t>Advantages</a:t>
            </a:r>
          </a:p>
        </p:txBody>
      </p:sp>
      <p:sp>
        <p:nvSpPr>
          <p:cNvPr id="3" name="Rectangle 2"/>
          <p:cNvSpPr/>
          <p:nvPr/>
        </p:nvSpPr>
        <p:spPr>
          <a:xfrm>
            <a:off x="746858" y="1573948"/>
            <a:ext cx="1051560" cy="64008"/>
          </a:xfrm>
          <a:prstGeom prst="rect">
            <a:avLst/>
          </a:prstGeom>
          <a:solidFill>
            <a:srgbClr val="279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965960"/>
            <a:ext cx="10515600" cy="4297680"/>
          </a:xfrm>
          <a:prstGeom prst="rect">
            <a:avLst/>
          </a:prstGeom>
          <a:noFill/>
        </p:spPr>
        <p:txBody>
          <a:bodyPr wrap="square">
            <a:spAutoFit/>
          </a:bodyPr>
          <a:lstStyle/>
          <a:p>
            <a:pPr>
              <a:spcAft>
                <a:spcPts val="1600"/>
              </a:spcAft>
              <a:defRPr sz="2100">
                <a:solidFill>
                  <a:srgbClr val="2D343E"/>
                </a:solidFill>
                <a:latin typeface="Aptos"/>
              </a:defRPr>
            </a:pPr>
            <a:r>
              <a:rPr dirty="0"/>
              <a:t>Easy to use and maintain.</a:t>
            </a:r>
          </a:p>
          <a:p>
            <a:pPr>
              <a:spcAft>
                <a:spcPts val="1600"/>
              </a:spcAft>
              <a:defRPr sz="2100">
                <a:solidFill>
                  <a:srgbClr val="2D343E"/>
                </a:solidFill>
                <a:latin typeface="Aptos"/>
              </a:defRPr>
            </a:pPr>
            <a:r>
              <a:rPr dirty="0"/>
              <a:t>Reduces repetitive manual work.</a:t>
            </a:r>
          </a:p>
          <a:p>
            <a:pPr>
              <a:spcAft>
                <a:spcPts val="1600"/>
              </a:spcAft>
              <a:defRPr sz="2100">
                <a:solidFill>
                  <a:srgbClr val="2D343E"/>
                </a:solidFill>
                <a:latin typeface="Aptos"/>
              </a:defRPr>
            </a:pPr>
            <a:r>
              <a:rPr dirty="0"/>
              <a:t>Enables faster searching and updating.</a:t>
            </a:r>
          </a:p>
          <a:p>
            <a:pPr>
              <a:spcAft>
                <a:spcPts val="1600"/>
              </a:spcAft>
              <a:defRPr sz="2100">
                <a:solidFill>
                  <a:srgbClr val="2D343E"/>
                </a:solidFill>
                <a:latin typeface="Aptos"/>
              </a:defRPr>
            </a:pPr>
            <a:r>
              <a:rPr dirty="0"/>
              <a:t>Keeps employee records in one place.</a:t>
            </a:r>
          </a:p>
          <a:p>
            <a:pPr>
              <a:spcAft>
                <a:spcPts val="1600"/>
              </a:spcAft>
              <a:defRPr sz="2100">
                <a:solidFill>
                  <a:srgbClr val="2D343E"/>
                </a:solidFill>
                <a:latin typeface="Aptos"/>
              </a:defRPr>
            </a:pPr>
            <a:r>
              <a:rPr dirty="0"/>
              <a:t>Can be expanded with login, attendance, leave, and reports.</a:t>
            </a:r>
          </a:p>
        </p:txBody>
      </p:sp>
      <p:sp>
        <p:nvSpPr>
          <p:cNvPr id="5" name="TextBox 4"/>
          <p:cNvSpPr txBox="1"/>
          <p:nvPr/>
        </p:nvSpPr>
        <p:spPr>
          <a:xfrm>
            <a:off x="10698480" y="6446520"/>
            <a:ext cx="914400" cy="201168"/>
          </a:xfrm>
          <a:prstGeom prst="rect">
            <a:avLst/>
          </a:prstGeom>
          <a:noFill/>
        </p:spPr>
        <p:txBody>
          <a:bodyPr wrap="none">
            <a:spAutoFit/>
          </a:bodyPr>
          <a:lstStyle/>
          <a:p>
            <a:pPr algn="r">
              <a:defRPr sz="1000">
                <a:solidFill>
                  <a:srgbClr val="5F6978"/>
                </a:solidFill>
              </a:defRPr>
            </a:pPr>
            <a:r>
              <a:t>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AD1F06-92A5-30EE-D17A-0B8581290AB5}"/>
              </a:ext>
            </a:extLst>
          </p:cNvPr>
          <p:cNvSpPr txBox="1"/>
          <p:nvPr/>
        </p:nvSpPr>
        <p:spPr>
          <a:xfrm>
            <a:off x="747251" y="201410"/>
            <a:ext cx="2516586" cy="523220"/>
          </a:xfrm>
          <a:prstGeom prst="rect">
            <a:avLst/>
          </a:prstGeom>
          <a:noFill/>
        </p:spPr>
        <p:txBody>
          <a:bodyPr wrap="none" rtlCol="0">
            <a:spAutoFit/>
          </a:bodyPr>
          <a:lstStyle/>
          <a:p>
            <a:r>
              <a:rPr lang="en-US" sz="2800" b="1" dirty="0"/>
              <a:t>SCREENSHORTS</a:t>
            </a:r>
            <a:endParaRPr lang="en-IN" sz="2800" b="1" dirty="0"/>
          </a:p>
        </p:txBody>
      </p:sp>
      <p:pic>
        <p:nvPicPr>
          <p:cNvPr id="5" name="Picture 4">
            <a:extLst>
              <a:ext uri="{FF2B5EF4-FFF2-40B4-BE49-F238E27FC236}">
                <a16:creationId xmlns:a16="http://schemas.microsoft.com/office/drawing/2014/main" id="{E9B13BA2-09D0-ACD4-FBE4-145AAD00DEC7}"/>
              </a:ext>
            </a:extLst>
          </p:cNvPr>
          <p:cNvPicPr>
            <a:picLocks noChangeAspect="1"/>
          </p:cNvPicPr>
          <p:nvPr/>
        </p:nvPicPr>
        <p:blipFill>
          <a:blip r:embed="rId2"/>
          <a:stretch>
            <a:fillRect/>
          </a:stretch>
        </p:blipFill>
        <p:spPr>
          <a:xfrm>
            <a:off x="747251" y="878292"/>
            <a:ext cx="3667433" cy="2690818"/>
          </a:xfrm>
          <a:prstGeom prst="rect">
            <a:avLst/>
          </a:prstGeom>
        </p:spPr>
      </p:pic>
      <p:pic>
        <p:nvPicPr>
          <p:cNvPr id="8" name="Picture 7">
            <a:extLst>
              <a:ext uri="{FF2B5EF4-FFF2-40B4-BE49-F238E27FC236}">
                <a16:creationId xmlns:a16="http://schemas.microsoft.com/office/drawing/2014/main" id="{CB2AA4D4-B7FC-9FD5-B131-CC91BED3D5D4}"/>
              </a:ext>
            </a:extLst>
          </p:cNvPr>
          <p:cNvPicPr>
            <a:picLocks noChangeAspect="1"/>
          </p:cNvPicPr>
          <p:nvPr/>
        </p:nvPicPr>
        <p:blipFill>
          <a:blip r:embed="rId3"/>
          <a:stretch>
            <a:fillRect/>
          </a:stretch>
        </p:blipFill>
        <p:spPr>
          <a:xfrm>
            <a:off x="4650658" y="925981"/>
            <a:ext cx="3352799" cy="2813188"/>
          </a:xfrm>
          <a:prstGeom prst="rect">
            <a:avLst/>
          </a:prstGeom>
        </p:spPr>
      </p:pic>
      <p:pic>
        <p:nvPicPr>
          <p:cNvPr id="11" name="Picture 10">
            <a:extLst>
              <a:ext uri="{FF2B5EF4-FFF2-40B4-BE49-F238E27FC236}">
                <a16:creationId xmlns:a16="http://schemas.microsoft.com/office/drawing/2014/main" id="{E41C2C77-ADFD-E0DB-EFFD-79DA00765296}"/>
              </a:ext>
            </a:extLst>
          </p:cNvPr>
          <p:cNvPicPr>
            <a:picLocks noChangeAspect="1"/>
          </p:cNvPicPr>
          <p:nvPr/>
        </p:nvPicPr>
        <p:blipFill>
          <a:blip r:embed="rId4"/>
          <a:stretch>
            <a:fillRect/>
          </a:stretch>
        </p:blipFill>
        <p:spPr>
          <a:xfrm>
            <a:off x="8131277" y="878293"/>
            <a:ext cx="3598606" cy="2690818"/>
          </a:xfrm>
          <a:prstGeom prst="rect">
            <a:avLst/>
          </a:prstGeom>
        </p:spPr>
      </p:pic>
      <p:pic>
        <p:nvPicPr>
          <p:cNvPr id="14" name="Picture 13">
            <a:extLst>
              <a:ext uri="{FF2B5EF4-FFF2-40B4-BE49-F238E27FC236}">
                <a16:creationId xmlns:a16="http://schemas.microsoft.com/office/drawing/2014/main" id="{21F5F9D9-7614-FC92-FB75-2ED6C8FCEB61}"/>
              </a:ext>
            </a:extLst>
          </p:cNvPr>
          <p:cNvPicPr>
            <a:picLocks noChangeAspect="1"/>
          </p:cNvPicPr>
          <p:nvPr/>
        </p:nvPicPr>
        <p:blipFill>
          <a:blip r:embed="rId5"/>
          <a:stretch>
            <a:fillRect/>
          </a:stretch>
        </p:blipFill>
        <p:spPr>
          <a:xfrm>
            <a:off x="137652" y="3952611"/>
            <a:ext cx="3054633" cy="2575879"/>
          </a:xfrm>
          <a:prstGeom prst="rect">
            <a:avLst/>
          </a:prstGeom>
        </p:spPr>
      </p:pic>
      <p:pic>
        <p:nvPicPr>
          <p:cNvPr id="17" name="Picture 16">
            <a:extLst>
              <a:ext uri="{FF2B5EF4-FFF2-40B4-BE49-F238E27FC236}">
                <a16:creationId xmlns:a16="http://schemas.microsoft.com/office/drawing/2014/main" id="{8F41E0C9-2743-9E7D-7D11-0F1F50B50DCC}"/>
              </a:ext>
            </a:extLst>
          </p:cNvPr>
          <p:cNvPicPr>
            <a:picLocks noChangeAspect="1"/>
          </p:cNvPicPr>
          <p:nvPr/>
        </p:nvPicPr>
        <p:blipFill>
          <a:blip r:embed="rId6"/>
          <a:stretch>
            <a:fillRect/>
          </a:stretch>
        </p:blipFill>
        <p:spPr>
          <a:xfrm>
            <a:off x="3263838" y="3982237"/>
            <a:ext cx="2704344" cy="2575879"/>
          </a:xfrm>
          <a:prstGeom prst="rect">
            <a:avLst/>
          </a:prstGeom>
        </p:spPr>
      </p:pic>
      <p:pic>
        <p:nvPicPr>
          <p:cNvPr id="20" name="Picture 19">
            <a:extLst>
              <a:ext uri="{FF2B5EF4-FFF2-40B4-BE49-F238E27FC236}">
                <a16:creationId xmlns:a16="http://schemas.microsoft.com/office/drawing/2014/main" id="{EDFEF82D-B343-C272-8959-0C89E3ABEEDD}"/>
              </a:ext>
            </a:extLst>
          </p:cNvPr>
          <p:cNvPicPr>
            <a:picLocks noChangeAspect="1"/>
          </p:cNvPicPr>
          <p:nvPr/>
        </p:nvPicPr>
        <p:blipFill>
          <a:blip r:embed="rId7"/>
          <a:stretch>
            <a:fillRect/>
          </a:stretch>
        </p:blipFill>
        <p:spPr>
          <a:xfrm>
            <a:off x="6039736" y="3952697"/>
            <a:ext cx="3054634" cy="2605419"/>
          </a:xfrm>
          <a:prstGeom prst="rect">
            <a:avLst/>
          </a:prstGeom>
        </p:spPr>
      </p:pic>
      <p:pic>
        <p:nvPicPr>
          <p:cNvPr id="23" name="Picture 22">
            <a:extLst>
              <a:ext uri="{FF2B5EF4-FFF2-40B4-BE49-F238E27FC236}">
                <a16:creationId xmlns:a16="http://schemas.microsoft.com/office/drawing/2014/main" id="{B978B524-2B55-773C-5410-31D71935D7E8}"/>
              </a:ext>
            </a:extLst>
          </p:cNvPr>
          <p:cNvPicPr>
            <a:picLocks noChangeAspect="1"/>
          </p:cNvPicPr>
          <p:nvPr/>
        </p:nvPicPr>
        <p:blipFill>
          <a:blip r:embed="rId8"/>
          <a:stretch>
            <a:fillRect/>
          </a:stretch>
        </p:blipFill>
        <p:spPr>
          <a:xfrm>
            <a:off x="9165925" y="3952611"/>
            <a:ext cx="2888424" cy="2605505"/>
          </a:xfrm>
          <a:prstGeom prst="rect">
            <a:avLst/>
          </a:prstGeom>
        </p:spPr>
      </p:pic>
    </p:spTree>
    <p:extLst>
      <p:ext uri="{BB962C8B-B14F-4D97-AF65-F5344CB8AC3E}">
        <p14:creationId xmlns:p14="http://schemas.microsoft.com/office/powerpoint/2010/main" val="460219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F2FA"/>
        </a:solidFill>
        <a:effectLst/>
      </p:bgPr>
    </p:bg>
    <p:spTree>
      <p:nvGrpSpPr>
        <p:cNvPr id="1" name=""/>
        <p:cNvGrpSpPr/>
        <p:nvPr/>
      </p:nvGrpSpPr>
      <p:grpSpPr>
        <a:xfrm>
          <a:off x="0" y="0"/>
          <a:ext cx="0" cy="0"/>
          <a:chOff x="0" y="0"/>
          <a:chExt cx="0" cy="0"/>
        </a:xfrm>
      </p:grpSpPr>
      <p:sp>
        <p:nvSpPr>
          <p:cNvPr id="2" name="TextBox 1"/>
          <p:cNvSpPr txBox="1"/>
          <p:nvPr/>
        </p:nvSpPr>
        <p:spPr>
          <a:xfrm>
            <a:off x="502429" y="932688"/>
            <a:ext cx="10972800" cy="640080"/>
          </a:xfrm>
          <a:prstGeom prst="rect">
            <a:avLst/>
          </a:prstGeom>
          <a:noFill/>
        </p:spPr>
        <p:txBody>
          <a:bodyPr wrap="none">
            <a:spAutoFit/>
          </a:bodyPr>
          <a:lstStyle/>
          <a:p>
            <a:pPr>
              <a:defRPr sz="3000" b="1">
                <a:solidFill>
                  <a:srgbClr val="182B4D"/>
                </a:solidFill>
                <a:latin typeface="Aptos Display"/>
              </a:defRPr>
            </a:pPr>
            <a:r>
              <a:rPr dirty="0"/>
              <a:t>Conclusion</a:t>
            </a:r>
          </a:p>
        </p:txBody>
      </p:sp>
      <p:sp>
        <p:nvSpPr>
          <p:cNvPr id="3" name="Rectangle 2"/>
          <p:cNvSpPr/>
          <p:nvPr/>
        </p:nvSpPr>
        <p:spPr>
          <a:xfrm>
            <a:off x="658368" y="1503991"/>
            <a:ext cx="1051560" cy="64008"/>
          </a:xfrm>
          <a:prstGeom prst="rect">
            <a:avLst/>
          </a:prstGeom>
          <a:solidFill>
            <a:srgbClr val="279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429" y="1860804"/>
            <a:ext cx="10515600" cy="4297680"/>
          </a:xfrm>
          <a:prstGeom prst="rect">
            <a:avLst/>
          </a:prstGeom>
          <a:noFill/>
        </p:spPr>
        <p:txBody>
          <a:bodyPr wrap="square">
            <a:spAutoFit/>
          </a:bodyPr>
          <a:lstStyle/>
          <a:p>
            <a:pPr>
              <a:spcAft>
                <a:spcPts val="1600"/>
              </a:spcAft>
              <a:defRPr sz="2100">
                <a:solidFill>
                  <a:srgbClr val="2D343E"/>
                </a:solidFill>
                <a:latin typeface="Aptos"/>
              </a:defRPr>
            </a:pPr>
            <a:r>
              <a:rPr dirty="0"/>
              <a:t>The Employee Management System organizes employee records efficiently.</a:t>
            </a:r>
          </a:p>
          <a:p>
            <a:pPr>
              <a:spcAft>
                <a:spcPts val="1600"/>
              </a:spcAft>
              <a:defRPr sz="2100">
                <a:solidFill>
                  <a:srgbClr val="2D343E"/>
                </a:solidFill>
                <a:latin typeface="Aptos"/>
              </a:defRPr>
            </a:pPr>
            <a:r>
              <a:rPr dirty="0"/>
              <a:t>Python handles the application logic while MySQL stores the data.</a:t>
            </a:r>
          </a:p>
          <a:p>
            <a:pPr>
              <a:spcAft>
                <a:spcPts val="1600"/>
              </a:spcAft>
              <a:defRPr sz="2100">
                <a:solidFill>
                  <a:srgbClr val="2D343E"/>
                </a:solidFill>
                <a:latin typeface="Aptos"/>
              </a:defRPr>
            </a:pPr>
            <a:r>
              <a:rPr dirty="0"/>
              <a:t>The project demonstrates database connectivity and CRUD operations.</a:t>
            </a:r>
          </a:p>
          <a:p>
            <a:pPr>
              <a:spcAft>
                <a:spcPts val="1600"/>
              </a:spcAft>
              <a:defRPr sz="2100">
                <a:solidFill>
                  <a:srgbClr val="2D343E"/>
                </a:solidFill>
                <a:latin typeface="Aptos"/>
              </a:defRPr>
            </a:pPr>
            <a:r>
              <a:rPr dirty="0"/>
              <a:t>It can be improved with more modules as future work.</a:t>
            </a:r>
          </a:p>
        </p:txBody>
      </p:sp>
      <p:sp>
        <p:nvSpPr>
          <p:cNvPr id="5" name="TextBox 4"/>
          <p:cNvSpPr txBox="1"/>
          <p:nvPr/>
        </p:nvSpPr>
        <p:spPr>
          <a:xfrm>
            <a:off x="10698480" y="6446520"/>
            <a:ext cx="914400" cy="201168"/>
          </a:xfrm>
          <a:prstGeom prst="rect">
            <a:avLst/>
          </a:prstGeom>
          <a:noFill/>
        </p:spPr>
        <p:txBody>
          <a:bodyPr wrap="none">
            <a:spAutoFit/>
          </a:bodyPr>
          <a:lstStyle/>
          <a:p>
            <a:pPr algn="r">
              <a:defRPr sz="1000">
                <a:solidFill>
                  <a:srgbClr val="5F6978"/>
                </a:solidFill>
              </a:defRPr>
            </a:pPr>
            <a:r>
              <a:t>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xtBox 4"/>
          <p:cNvSpPr txBox="1"/>
          <p:nvPr/>
        </p:nvSpPr>
        <p:spPr>
          <a:xfrm>
            <a:off x="10698480" y="6446520"/>
            <a:ext cx="914400" cy="201168"/>
          </a:xfrm>
          <a:prstGeom prst="rect">
            <a:avLst/>
          </a:prstGeom>
          <a:noFill/>
        </p:spPr>
        <p:txBody>
          <a:bodyPr wrap="none">
            <a:spAutoFit/>
          </a:bodyPr>
          <a:lstStyle/>
          <a:p>
            <a:pPr algn="r">
              <a:defRPr sz="1000">
                <a:solidFill>
                  <a:srgbClr val="5F6978"/>
                </a:solidFill>
              </a:defRPr>
            </a:pPr>
            <a:r>
              <a:t>13</a:t>
            </a:r>
          </a:p>
        </p:txBody>
      </p:sp>
      <p:pic>
        <p:nvPicPr>
          <p:cNvPr id="7" name="Picture 6">
            <a:extLst>
              <a:ext uri="{FF2B5EF4-FFF2-40B4-BE49-F238E27FC236}">
                <a16:creationId xmlns:a16="http://schemas.microsoft.com/office/drawing/2014/main" id="{AC6F4747-B55E-C6F7-B319-E197D21036F1}"/>
              </a:ext>
            </a:extLst>
          </p:cNvPr>
          <p:cNvPicPr>
            <a:picLocks noChangeAspect="1"/>
          </p:cNvPicPr>
          <p:nvPr/>
        </p:nvPicPr>
        <p:blipFill>
          <a:blip r:embed="rId2"/>
          <a:stretch>
            <a:fillRect/>
          </a:stretch>
        </p:blipFill>
        <p:spPr>
          <a:xfrm>
            <a:off x="629264" y="527747"/>
            <a:ext cx="10787955" cy="58025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Film Burn</Template>
  <TotalTime>80</TotalTime>
  <Words>508</Words>
  <Application>Microsoft Office PowerPoint</Application>
  <PresentationFormat>Widescreen</PresentationFormat>
  <Paragraphs>55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A.SRIVIDYA</dc:creator>
  <cp:keywords/>
  <dc:description>generated using python-pptx</dc:description>
  <cp:lastModifiedBy>SRIVIDYA A</cp:lastModifiedBy>
  <cp:revision>3</cp:revision>
  <dcterms:created xsi:type="dcterms:W3CDTF">2013-01-27T09:14:16Z</dcterms:created>
  <dcterms:modified xsi:type="dcterms:W3CDTF">2026-10-26T16:45:18Z</dcterms:modified>
  <cp:category/>
</cp:coreProperties>
</file>